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371600"/>
            <a:ext cx="502920" cy="109728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105156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5000" b="1" i="0">
                <a:solidFill>
                  <a:srgbClr val="FFFFFF"/>
                </a:solidFill>
                <a:latin typeface="Georgia"/>
              </a:rPr>
              <a:t>Как нейросети объясняют</a:t>
            </a:r>
          </a:p>
          <a:p>
            <a:pPr algn="l">
              <a:lnSpc>
                <a:spcPct val="102000"/>
              </a:lnSpc>
            </a:pPr>
            <a:r>
              <a:rPr sz="5000" b="1" i="0">
                <a:solidFill>
                  <a:srgbClr val="FFFFFF"/>
                </a:solidFill>
                <a:latin typeface="Georgia"/>
              </a:rPr>
              <a:t>распад СССР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03320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CADCFC"/>
                </a:solidFill>
                <a:latin typeface="Trebuchet MS"/>
              </a:rPr>
              <a:t>Сравнительный анализ интерпретаций семи ИИ-сервисов</a:t>
            </a:r>
          </a:p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CADCFC"/>
                </a:solidFill>
                <a:latin typeface="Trebuchet MS"/>
              </a:rPr>
              <a:t>и проверка культурного смещения в обучении больших языковых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80644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9CA3AF"/>
                </a:solidFill>
                <a:latin typeface="Trebuchet MS"/>
              </a:rPr>
              <a:t>Исследовательский проект · НИУ ВШЭ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580644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 i="0">
                <a:solidFill>
                  <a:srgbClr val="CADCFC"/>
                </a:solidFill>
                <a:latin typeface="Trebuchet MS"/>
              </a:rPr>
              <a:t>7 сервисов · 360 ответов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E2761"/>
                </a:solidFill>
                <a:latin typeface="Georgia"/>
              </a:rPr>
              <a:t>Зачем мы это делали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1F2937"/>
                </a:solidFill>
                <a:latin typeface="Trebuchet MS"/>
              </a:rPr>
              <a:t>Большие языковые модели обучаются на текстах разных стран и традиций.</a:t>
            </a:r>
          </a:p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1F2937"/>
                </a:solidFill>
                <a:latin typeface="Trebuchet MS"/>
              </a:rPr>
              <a:t>Значит, в спорных исторических темах они могут нести разный культурный «акцент».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971800"/>
            <a:ext cx="10515600" cy="150876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200400"/>
            <a:ext cx="98755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E2761"/>
                </a:solidFill>
                <a:latin typeface="Georgia"/>
              </a:rPr>
              <a:t>«Отражают ли ответы нейросетей разницу между российской и западной</a:t>
            </a:r>
          </a:p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E2761"/>
                </a:solidFill>
                <a:latin typeface="Georgia"/>
              </a:rPr>
              <a:t>трактовкой распада СССР — и виден ли в этом более широкий культурный bias?»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92040"/>
            <a:ext cx="10424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280"/>
                </a:solidFill>
                <a:latin typeface="Trebuchet MS"/>
              </a:rPr>
              <a:t>Распад СССР — идеальный тест: тема, по которой российская и западная историография</a:t>
            </a:r>
          </a:p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280"/>
                </a:solidFill>
                <a:latin typeface="Trebuchet MS"/>
              </a:rPr>
              <a:t>расходятся сильнее всего. Мы не ищем «правильную» модель — мы картируем, какие</a:t>
            </a:r>
          </a:p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280"/>
                </a:solidFill>
                <a:latin typeface="Trebuchet MS"/>
              </a:rPr>
              <a:t>объяснения и нарративы у какой модели всплывают чаще.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E2761"/>
                </a:solidFill>
                <a:latin typeface="Georgia"/>
              </a:rPr>
              <a:t>Как проверяли — единый протокол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554480"/>
            <a:ext cx="5074920" cy="214884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43000" y="1874520"/>
            <a:ext cx="868680" cy="86868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1920240"/>
            <a:ext cx="3429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E2761"/>
                </a:solidFill>
                <a:latin typeface="Georgia"/>
              </a:rPr>
              <a:t>Одинаковых промптов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246888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 i="0">
                <a:solidFill>
                  <a:srgbClr val="6B7280"/>
                </a:solidFill>
                <a:latin typeface="Trebuchet MS"/>
              </a:rPr>
              <a:t>От предпосылок распада до его неизбежности — каждой модели задаём один и тот же список вопросов.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554480"/>
            <a:ext cx="5074920" cy="214884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629400" y="1874520"/>
            <a:ext cx="868680" cy="86868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80" y="1920240"/>
            <a:ext cx="3429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E2761"/>
                </a:solidFill>
                <a:latin typeface="Georgia"/>
              </a:rPr>
              <a:t>Факторов оценки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80" y="246888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 i="0">
                <a:solidFill>
                  <a:srgbClr val="6B7280"/>
                </a:solidFill>
                <a:latin typeface="Trebuchet MS"/>
              </a:rPr>
              <a:t>Запад · Экономика · Горбачёв · Нац. вопрос · Внутренний кризис. Каждый — шкала от 0 до 5.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23360"/>
            <a:ext cx="5074920" cy="214884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43000" y="4343400"/>
            <a:ext cx="868680" cy="86868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XY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4389120"/>
            <a:ext cx="3429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E2761"/>
                </a:solidFill>
                <a:latin typeface="Georgia"/>
              </a:rPr>
              <a:t>Координаты компаса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493776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 i="0">
                <a:solidFill>
                  <a:srgbClr val="6B7280"/>
                </a:solidFill>
                <a:latin typeface="Trebuchet MS"/>
              </a:rPr>
              <a:t>X: внутренние причины — внешнее давление. Y: неизбежность — роль решений и ошибок.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4023360"/>
            <a:ext cx="5074920" cy="214884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29400" y="4343400"/>
            <a:ext cx="868680" cy="868680"/>
          </a:xfrm>
          <a:prstGeom prst="ellipse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80" y="4389120"/>
            <a:ext cx="3429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E2761"/>
                </a:solidFill>
                <a:latin typeface="Georgia"/>
              </a:rPr>
              <a:t>ИИ-сервисов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80" y="493776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 i="0">
                <a:solidFill>
                  <a:srgbClr val="6B7280"/>
                </a:solidFill>
                <a:latin typeface="Trebuchet MS"/>
              </a:rPr>
              <a:t>ChatGPT, Claude, Gemini, Grok, GigaChat, YandexGPT, DeepSeek — Запад, Россия, Восток.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Georgia"/>
              </a:rPr>
              <a:t>Объём проделанной работы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00200"/>
            <a:ext cx="3383280" cy="1828800"/>
          </a:xfrm>
          <a:prstGeom prst="roundRect">
            <a:avLst>
              <a:gd name="adj" fmla="val 8000"/>
            </a:avLst>
          </a:prstGeom>
          <a:solidFill>
            <a:srgbClr val="2B3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83080"/>
            <a:ext cx="28346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 i="0">
                <a:solidFill>
                  <a:srgbClr val="CADCFC"/>
                </a:solidFill>
                <a:latin typeface="Georgia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79192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Trebuchet MS"/>
              </a:rPr>
              <a:t>ИИ-сервисов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044952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CA3AF"/>
                </a:solidFill>
                <a:latin typeface="Trebuchet MS"/>
              </a:rPr>
              <a:t>Запад · Россия · Восток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600200"/>
            <a:ext cx="3383280" cy="1828800"/>
          </a:xfrm>
          <a:prstGeom prst="roundRect">
            <a:avLst>
              <a:gd name="adj" fmla="val 8000"/>
            </a:avLst>
          </a:prstGeom>
          <a:solidFill>
            <a:srgbClr val="2B3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1728" y="1783080"/>
            <a:ext cx="28346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 i="0">
                <a:solidFill>
                  <a:srgbClr val="CADCFC"/>
                </a:solidFill>
                <a:latin typeface="Georgia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679192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Trebuchet MS"/>
              </a:rPr>
              <a:t>серии тестов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3044952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CA3AF"/>
                </a:solidFill>
                <a:latin typeface="Trebuchet MS"/>
              </a:rPr>
              <a:t>разные режимы и прогоны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91856" y="1600200"/>
            <a:ext cx="3383280" cy="1828800"/>
          </a:xfrm>
          <a:prstGeom prst="roundRect">
            <a:avLst>
              <a:gd name="adj" fmla="val 8000"/>
            </a:avLst>
          </a:prstGeom>
          <a:solidFill>
            <a:srgbClr val="2B3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6176" y="1783080"/>
            <a:ext cx="28346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 i="0">
                <a:solidFill>
                  <a:srgbClr val="CADCFC"/>
                </a:solidFill>
                <a:latin typeface="Georgia"/>
              </a:rPr>
              <a:t>360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6176" y="2679192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Trebuchet MS"/>
              </a:rPr>
              <a:t>ответов закодировано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6176" y="3044952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CA3AF"/>
                </a:solidFill>
                <a:latin typeface="Trebuchet MS"/>
              </a:rPr>
              <a:t>по 5 факторам каждый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703320"/>
            <a:ext cx="3383280" cy="1828800"/>
          </a:xfrm>
          <a:prstGeom prst="roundRect">
            <a:avLst>
              <a:gd name="adj" fmla="val 8000"/>
            </a:avLst>
          </a:prstGeom>
          <a:solidFill>
            <a:srgbClr val="2B3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886200"/>
            <a:ext cx="28346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 i="0">
                <a:solidFill>
                  <a:srgbClr val="CADCFC"/>
                </a:solidFill>
                <a:latin typeface="Georgia"/>
              </a:rPr>
              <a:t>+2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782312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Trebuchet MS"/>
              </a:rPr>
              <a:t>эталона-человека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148072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CA3AF"/>
                </a:solidFill>
                <a:latin typeface="Trebuchet MS"/>
              </a:rPr>
              <a:t>учебник и монография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7408" y="3703320"/>
            <a:ext cx="3383280" cy="1828800"/>
          </a:xfrm>
          <a:prstGeom prst="roundRect">
            <a:avLst>
              <a:gd name="adj" fmla="val 8000"/>
            </a:avLst>
          </a:prstGeom>
          <a:solidFill>
            <a:srgbClr val="2B3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81728" y="3886200"/>
            <a:ext cx="28346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 i="0">
                <a:solidFill>
                  <a:srgbClr val="CADCFC"/>
                </a:solidFill>
                <a:latin typeface="Georgia"/>
              </a:rPr>
              <a:t>+30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4782312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Trebuchet MS"/>
              </a:rPr>
              <a:t>ответов эталонов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81728" y="5148072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CA3AF"/>
                </a:solidFill>
                <a:latin typeface="Trebuchet MS"/>
              </a:rPr>
              <a:t>те же 15 промптов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91856" y="3703320"/>
            <a:ext cx="3383280" cy="1828800"/>
          </a:xfrm>
          <a:prstGeom prst="roundRect">
            <a:avLst>
              <a:gd name="adj" fmla="val 8000"/>
            </a:avLst>
          </a:prstGeom>
          <a:solidFill>
            <a:srgbClr val="2B3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66176" y="3886200"/>
            <a:ext cx="28346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 i="0">
                <a:solidFill>
                  <a:srgbClr val="CADCFC"/>
                </a:solidFill>
                <a:latin typeface="Georgia"/>
              </a:rPr>
              <a:t>≈6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66176" y="4782312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Trebuchet MS"/>
              </a:rPr>
              <a:t>типов режимов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6176" y="5148072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9CA3AF"/>
                </a:solidFill>
                <a:latin typeface="Trebuchet MS"/>
              </a:rPr>
              <a:t>поиск · рассуждение · версии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E2761"/>
                </a:solidFill>
                <a:latin typeface="Georgia"/>
              </a:rPr>
              <a:t>Как читать наш «компас»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6B7280"/>
                </a:solidFill>
                <a:latin typeface="Trebuchet MS"/>
              </a:rPr>
              <a:t>Каждый ответ переводим в баллы, а среднее по модели — в точку на двух осях.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5120640" cy="1874519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33172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E2761"/>
                </a:solidFill>
                <a:latin typeface="Georgia"/>
              </a:rPr>
              <a:t>Ось X — причина распада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880360"/>
            <a:ext cx="4572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1F2937"/>
                </a:solidFill>
                <a:latin typeface="Trebuchet MS"/>
              </a:rPr>
              <a:t>−5   внутренние причины главные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1F2937"/>
                </a:solidFill>
                <a:latin typeface="Trebuchet MS"/>
              </a:rPr>
              <a:t>+5   внешнее давление главное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03120"/>
            <a:ext cx="5120640" cy="1874519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33172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1E2761"/>
                </a:solidFill>
                <a:latin typeface="Georgia"/>
              </a:rPr>
              <a:t>Ось Y — логика распада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880360"/>
            <a:ext cx="4572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1F2937"/>
                </a:solidFill>
                <a:latin typeface="Trebuchet MS"/>
              </a:rPr>
              <a:t>−5   распад был неизбежен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1F2937"/>
                </a:solidFill>
                <a:latin typeface="Trebuchet MS"/>
              </a:rPr>
              <a:t>+5   результат решений и ошибок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434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E2761"/>
                </a:solidFill>
                <a:latin typeface="Trebuchet MS"/>
              </a:rPr>
              <a:t>Пять факторов причинности (0–5):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937760"/>
            <a:ext cx="2029968" cy="86868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37760"/>
            <a:ext cx="202996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rebuchet MS"/>
              </a:rPr>
              <a:t>Запад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80944" y="4937760"/>
            <a:ext cx="2029968" cy="86868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80944" y="4937760"/>
            <a:ext cx="202996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rebuchet MS"/>
              </a:rPr>
              <a:t>Экономика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38928" y="4937760"/>
            <a:ext cx="2029968" cy="86868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38928" y="4937760"/>
            <a:ext cx="202996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rebuchet MS"/>
              </a:rPr>
              <a:t>Горбачёв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96912" y="4937760"/>
            <a:ext cx="2029968" cy="86868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96912" y="4937760"/>
            <a:ext cx="202996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rebuchet MS"/>
              </a:rPr>
              <a:t>Нац. вопрос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54896" y="4937760"/>
            <a:ext cx="2029968" cy="86868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54896" y="4937760"/>
            <a:ext cx="202996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rebuchet MS"/>
              </a:rPr>
              <a:t>Внутр. кризис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9CA3AF"/>
                </a:solidFill>
                <a:latin typeface="Trebuchet MS"/>
              </a:rPr>
              <a:t>Шкала, промпты и журнал прогонов зафиксированы в методичке проекта.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6766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E2761"/>
                </a:solidFill>
                <a:latin typeface="Georgia"/>
              </a:rPr>
              <a:t>Главный результат</a:t>
            </a:r>
          </a:p>
        </p:txBody>
      </p:sp>
      <p:pic>
        <p:nvPicPr>
          <p:cNvPr id="4" name="Picture 3" descr="Overall_com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54034"/>
            <a:ext cx="7680960" cy="5172891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229600" y="1234440"/>
            <a:ext cx="3611880" cy="50292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49640" y="155448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>
                <a:solidFill>
                  <a:srgbClr val="FFFFFF"/>
                </a:solidFill>
                <a:latin typeface="Georgia"/>
              </a:rPr>
              <a:t>Все модели —</a:t>
            </a:r>
          </a:p>
          <a:p>
            <a:pPr algn="l">
              <a:lnSpc>
                <a:spcPct val="105000"/>
              </a:lnSpc>
            </a:pPr>
            <a:r>
              <a:rPr sz="2500" b="1" i="0">
                <a:solidFill>
                  <a:srgbClr val="FFFFFF"/>
                </a:solidFill>
                <a:latin typeface="Georgia"/>
              </a:rPr>
              <a:t>в одном углу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2880360"/>
            <a:ext cx="3017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CADCFC"/>
                </a:solidFill>
                <a:latin typeface="Trebuchet MS"/>
              </a:rPr>
              <a:t>Независимо от страны-разработчика, все семь сервисов объясняют распад прежде всего внутренним системным кризисом.</a:t>
            </a:r>
          </a:p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CADCFC"/>
                </a:solidFill>
                <a:latin typeface="Trebuchet MS"/>
              </a:rPr>
              <a:t/>
            </a:r>
          </a:p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CADCFC"/>
                </a:solidFill>
                <a:latin typeface="Trebuchet MS"/>
              </a:rPr>
              <a:t>На компасе они сбиты в плотное облако слева.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5440680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Trebuchet MS"/>
              </a:rPr>
              <a:t>Средний X ≈ −3.0 … −3.5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2761"/>
                </a:solidFill>
                <a:latin typeface="Georgia"/>
              </a:rPr>
              <a:t>Какой фактор стабилен, а какой — спорный</a:t>
            </a:r>
          </a:p>
        </p:txBody>
      </p:sp>
      <p:pic>
        <p:nvPicPr>
          <p:cNvPr id="4" name="Picture 3" descr="Facto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7132320" cy="5349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275320" y="1280160"/>
            <a:ext cx="3566160" cy="233172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49640" y="150876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E2761"/>
                </a:solidFill>
                <a:latin typeface="Georgia"/>
              </a:rPr>
              <a:t>Стабильно у всех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2011680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F2937"/>
                </a:solidFill>
                <a:latin typeface="Trebuchet MS"/>
              </a:rPr>
              <a:t>«Внутренний кризис» — самая тёмная колонка: 4.3–5.0 у всех моделей и обоих эталонов.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75320" y="3840480"/>
            <a:ext cx="3566160" cy="233172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49640" y="406908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D7263D"/>
                </a:solidFill>
                <a:latin typeface="Georgia"/>
              </a:rPr>
              <a:t>Спорно у всех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4572000"/>
            <a:ext cx="3063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F2937"/>
                </a:solidFill>
                <a:latin typeface="Trebuchet MS"/>
              </a:rPr>
              <a:t>«Запад» — самая светлая колонка: 1.0–1.6 у нейросетей. Внешнего врага не делает главным никто.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E2761"/>
                </a:solidFill>
                <a:latin typeface="Georgia"/>
              </a:rPr>
              <a:t>Ожидаемого раскола не случилось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 i="0">
                <a:solidFill>
                  <a:srgbClr val="1F2937"/>
                </a:solidFill>
                <a:latin typeface="Trebuchet MS"/>
              </a:rPr>
              <a:t>Гипотеза была: западные модели «спишут всё на тоталитаризм», российские — «на Запад».</a:t>
            </a:r>
          </a:p>
          <a:p>
            <a:pPr algn="l">
              <a:lnSpc>
                <a:spcPct val="118000"/>
              </a:lnSpc>
            </a:pPr>
            <a:r>
              <a:rPr sz="1800" b="0" i="0">
                <a:solidFill>
                  <a:srgbClr val="1F2937"/>
                </a:solidFill>
                <a:latin typeface="Trebuchet MS"/>
              </a:rPr>
              <a:t>На деле граница «Россия против Запада» по базовой причинности почти не проявилась.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10515600" cy="841248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31089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E2761"/>
                </a:solidFill>
                <a:latin typeface="Trebuchet MS"/>
              </a:rPr>
              <a:t>ChatGPT (Запад)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2743200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D7263D"/>
                </a:solidFill>
                <a:latin typeface="Georgia"/>
              </a:rPr>
              <a:t>Запад 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743200"/>
            <a:ext cx="52120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6B7280"/>
                </a:solidFill>
                <a:latin typeface="Trebuchet MS"/>
              </a:rPr>
              <a:t>минимум внимания к внешнему фактору во всём наборе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675888"/>
            <a:ext cx="10515600" cy="841248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675888"/>
            <a:ext cx="31089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E2761"/>
                </a:solidFill>
                <a:latin typeface="Trebuchet MS"/>
              </a:rPr>
              <a:t>GigaChat (Россия)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3675888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D7263D"/>
                </a:solidFill>
                <a:latin typeface="Georgia"/>
              </a:rPr>
              <a:t>Запад 1.6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675888"/>
            <a:ext cx="52120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6B7280"/>
                </a:solidFill>
                <a:latin typeface="Trebuchet MS"/>
              </a:rPr>
              <a:t>учитывает Запад сильнее ChatGPT — но кризис всё равно главный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608576"/>
            <a:ext cx="10515600" cy="841248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608576"/>
            <a:ext cx="31089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E2761"/>
                </a:solidFill>
                <a:latin typeface="Trebuchet MS"/>
              </a:rPr>
              <a:t>YandexGPT (Россия)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4608576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D7263D"/>
                </a:solidFill>
                <a:latin typeface="Georgia"/>
              </a:rPr>
              <a:t>Запад 1.4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4608576"/>
            <a:ext cx="52120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6B7280"/>
                </a:solidFill>
                <a:latin typeface="Trebuchet MS"/>
              </a:rPr>
              <a:t>не начал винить Запад даже с поиском по рунету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541264"/>
            <a:ext cx="10515600" cy="841248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5541264"/>
            <a:ext cx="31089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E2761"/>
                </a:solidFill>
                <a:latin typeface="Trebuchet MS"/>
              </a:rPr>
              <a:t>DeepSeek (Восток)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5541264"/>
            <a:ext cx="17373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D7263D"/>
                </a:solidFill>
                <a:latin typeface="Georgia"/>
              </a:rPr>
              <a:t>Запад 1.6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5541264"/>
            <a:ext cx="52120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6B7280"/>
                </a:solidFill>
                <a:latin typeface="Trebuchet MS"/>
              </a:rPr>
              <a:t>самая нейтральная восточная рамка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E2761"/>
                </a:solidFill>
                <a:latin typeface="Georgia"/>
              </a:rPr>
              <a:t>Рамка устойчива — две проверки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554480"/>
            <a:ext cx="5074920" cy="443484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82880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E2761"/>
                </a:solidFill>
                <a:latin typeface="Georgia"/>
              </a:rPr>
              <a:t>Claude — три размера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514600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6B7280"/>
                </a:solidFill>
                <a:latin typeface="Trebuchet MS"/>
              </a:rPr>
              <a:t>Haiku · Sonnet · Opus</a:t>
            </a:r>
          </a:p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6B7280"/>
                </a:solidFill>
                <a:latin typeface="Trebuchet MS"/>
              </a:rPr>
              <a:t>(от лёгкой к самой мощной)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42900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F2937"/>
                </a:solidFill>
                <a:latin typeface="Trebuchet MS"/>
              </a:rPr>
              <a:t>Haiku 4.5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3429000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761"/>
                </a:solidFill>
                <a:latin typeface="Trebuchet MS"/>
              </a:rPr>
              <a:t>X −3.3 · Y 0.8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087368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F2937"/>
                </a:solidFill>
                <a:latin typeface="Trebuchet MS"/>
              </a:rPr>
              <a:t>Sonnet 4.6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4087368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761"/>
                </a:solidFill>
                <a:latin typeface="Trebuchet MS"/>
              </a:rPr>
              <a:t>X −3.3 · Y 0.8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745736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F2937"/>
                </a:solidFill>
                <a:latin typeface="Trebuchet MS"/>
              </a:rPr>
              <a:t>Opus 4.8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474573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761"/>
                </a:solidFill>
                <a:latin typeface="Trebuchet MS"/>
              </a:rPr>
              <a:t>X −3.3 · Y 0.7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544068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1">
                <a:solidFill>
                  <a:srgbClr val="D7263D"/>
                </a:solidFill>
                <a:latin typeface="Trebuchet MS"/>
              </a:rPr>
              <a:t>Размер меняет глубину, а не позицию.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554480"/>
            <a:ext cx="5074920" cy="443484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82880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E2761"/>
                </a:solidFill>
                <a:latin typeface="Georgia"/>
              </a:rPr>
              <a:t>Grok — три повтора прогона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514600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6B7280"/>
                </a:solidFill>
                <a:latin typeface="Trebuchet MS"/>
              </a:rPr>
              <a:t>Один режим, тот же промпт,</a:t>
            </a:r>
          </a:p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6B7280"/>
                </a:solidFill>
                <a:latin typeface="Trebuchet MS"/>
              </a:rPr>
              <a:t>три независимых запуска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429000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F2937"/>
                </a:solidFill>
                <a:latin typeface="Trebuchet MS"/>
              </a:rPr>
              <a:t>Прогон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3429000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761"/>
                </a:solidFill>
                <a:latin typeface="Trebuchet MS"/>
              </a:rPr>
              <a:t>X −3.5 · Y 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087368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F2937"/>
                </a:solidFill>
                <a:latin typeface="Trebuchet MS"/>
              </a:rPr>
              <a:t>Прогон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4087368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761"/>
                </a:solidFill>
                <a:latin typeface="Trebuchet MS"/>
              </a:rPr>
              <a:t>X −3.5 · Y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745736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F2937"/>
                </a:solidFill>
                <a:latin typeface="Trebuchet MS"/>
              </a:rPr>
              <a:t>Прогон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474573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1E2761"/>
                </a:solidFill>
                <a:latin typeface="Trebuchet MS"/>
              </a:rPr>
              <a:t>X −3.5 · Y 1.0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44068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1">
                <a:solidFill>
                  <a:srgbClr val="D7263D"/>
                </a:solidFill>
                <a:latin typeface="Trebuchet MS"/>
              </a:rPr>
              <a:t>Совпадение до десятых баллов.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E2761"/>
                </a:solidFill>
                <a:latin typeface="Georgia"/>
              </a:rPr>
              <a:t>Эталоны-люди: с чем сравниваем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6B7280"/>
                </a:solidFill>
                <a:latin typeface="Trebuchet MS"/>
              </a:rPr>
              <a:t>Те же 15 вопросов мы «прогнали» по двум человеческим текстам — российскому и западному.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57400"/>
            <a:ext cx="5074920" cy="393192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4572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E2761"/>
                </a:solidFill>
                <a:latin typeface="Georgia"/>
              </a:rPr>
              <a:t>Мединский / Торкунов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718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1">
                <a:solidFill>
                  <a:srgbClr val="6B7280"/>
                </a:solidFill>
                <a:latin typeface="Trebuchet MS"/>
              </a:rPr>
              <a:t>Российский школьный учебник,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6118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 i="0">
                <a:solidFill>
                  <a:srgbClr val="1F2937"/>
                </a:solidFill>
                <a:latin typeface="Trebuchet MS"/>
              </a:rPr>
              <a:t>Запад = 2.4 — максимум во всём наборе.</a:t>
            </a:r>
          </a:p>
          <a:p>
            <a:pPr algn="l">
              <a:lnSpc>
                <a:spcPct val="120000"/>
              </a:lnSpc>
            </a:pPr>
            <a:r>
              <a:rPr sz="1650" b="0" i="0">
                <a:solidFill>
                  <a:srgbClr val="1F2937"/>
                </a:solidFill>
                <a:latin typeface="Trebuchet MS"/>
              </a:rPr>
              <a:t>Но внутр. кризис 4.7, X = −3.1.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800600"/>
            <a:ext cx="4572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D7263D"/>
                </a:solidFill>
                <a:latin typeface="Trebuchet MS"/>
              </a:rPr>
              <a:t>Даже государственный учебник не сводит</a:t>
            </a:r>
          </a:p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D7263D"/>
                </a:solidFill>
                <a:latin typeface="Trebuchet MS"/>
              </a:rPr>
              <a:t>распад к «руке Запада».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057400"/>
            <a:ext cx="5074920" cy="3931920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286000"/>
            <a:ext cx="4572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E2761"/>
                </a:solidFill>
                <a:latin typeface="Georgia"/>
              </a:rPr>
              <a:t>Зубок, «Collapse»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9718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1">
                <a:solidFill>
                  <a:srgbClr val="6B7280"/>
                </a:solidFill>
                <a:latin typeface="Trebuchet MS"/>
              </a:rPr>
              <a:t>Западная академическая монография,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6118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 i="0">
                <a:solidFill>
                  <a:srgbClr val="1F2937"/>
                </a:solidFill>
                <a:latin typeface="Trebuchet MS"/>
              </a:rPr>
              <a:t>X = −4.1 (самый «внутренний»),</a:t>
            </a:r>
          </a:p>
          <a:p>
            <a:pPr algn="l">
              <a:lnSpc>
                <a:spcPct val="120000"/>
              </a:lnSpc>
            </a:pPr>
            <a:r>
              <a:rPr sz="1650" b="0" i="0">
                <a:solidFill>
                  <a:srgbClr val="1F2937"/>
                </a:solidFill>
                <a:latin typeface="Trebuchet MS"/>
              </a:rPr>
              <a:t>Y = 3.7 (самый «человеческий»).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4800600"/>
            <a:ext cx="4572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D7263D"/>
                </a:solidFill>
                <a:latin typeface="Trebuchet MS"/>
              </a:rPr>
              <a:t>Историк объясняет распад решениями</a:t>
            </a:r>
          </a:p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D7263D"/>
                </a:solidFill>
                <a:latin typeface="Trebuchet MS"/>
              </a:rPr>
              <a:t>людей куда сильнее, чем любая модель.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E2761"/>
                </a:solidFill>
                <a:latin typeface="Georgia"/>
              </a:rPr>
              <a:t>Статистические выбросы и сюрпризы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00200"/>
            <a:ext cx="5120640" cy="214884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828800"/>
            <a:ext cx="2377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D7263D"/>
                </a:solidFill>
                <a:latin typeface="Georgia"/>
              </a:rPr>
              <a:t>Y = −0.2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69748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E2761"/>
                </a:solidFill>
                <a:latin typeface="Trebuchet MS"/>
              </a:rPr>
              <a:t>YandexGPT, режим «Исследовать»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172968"/>
            <a:ext cx="4480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6B7280"/>
                </a:solidFill>
                <a:latin typeface="Trebuchet MS"/>
              </a:rPr>
              <a:t>Единственная серия с отрицательным Y — уклон к тезису о неизбежности распада.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120640" cy="214884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2377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D7263D"/>
                </a:solidFill>
                <a:latin typeface="Georgia"/>
              </a:rPr>
              <a:t>Отказ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69748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E2761"/>
                </a:solidFill>
                <a:latin typeface="Trebuchet MS"/>
              </a:rPr>
              <a:t>DeepSeek на вопросе про Китай (P12)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172968"/>
            <a:ext cx="4480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6B7280"/>
                </a:solidFill>
                <a:latin typeface="Trebuchet MS"/>
              </a:rPr>
              <a:t>Восточная модель уклонилась от сравнения с путём Дэн Сяопина.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931920"/>
            <a:ext cx="5120640" cy="214884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160520"/>
            <a:ext cx="2377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D7263D"/>
                </a:solidFill>
                <a:latin typeface="Georgia"/>
              </a:rPr>
              <a:t>100 %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02920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E2761"/>
                </a:solidFill>
                <a:latin typeface="Trebuchet MS"/>
              </a:rPr>
              <a:t>Источники GigaChat — только рунет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04688"/>
            <a:ext cx="4480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6B7280"/>
                </a:solidFill>
                <a:latin typeface="Trebuchet MS"/>
              </a:rPr>
              <a:t>Региональный сдвиг выдачи: РУВИКИ и БРЭ. Но рамка осталась комплексной.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931920"/>
            <a:ext cx="5120640" cy="2148840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4160520"/>
            <a:ext cx="2377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D7263D"/>
                </a:solidFill>
                <a:latin typeface="Georgia"/>
              </a:rPr>
              <a:t>0.3 — 1.1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02920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E2761"/>
                </a:solidFill>
                <a:latin typeface="Trebuchet MS"/>
              </a:rPr>
              <a:t>Самый сухой vs самый «яркий»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5504688"/>
            <a:ext cx="4480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6B7280"/>
                </a:solidFill>
                <a:latin typeface="Trebuchet MS"/>
              </a:rPr>
              <a:t>ChatGPT — сдержаннее всех, Gemini — самый публицистичный по тону.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100" b="1" i="0">
                <a:solidFill>
                  <a:srgbClr val="1E2761"/>
                </a:solidFill>
                <a:latin typeface="Georgia"/>
              </a:rPr>
              <a:t>Откуда модели «берут» источники</a:t>
            </a:r>
          </a:p>
        </p:txBody>
      </p:sp>
      <p:pic>
        <p:nvPicPr>
          <p:cNvPr id="4" name="Picture 3" descr="Source_region_sh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345" y="1188720"/>
            <a:ext cx="7280910" cy="5349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92440" y="1371600"/>
            <a:ext cx="3749039" cy="1572768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1572768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E2761"/>
                </a:solidFill>
                <a:latin typeface="Georgia"/>
              </a:rPr>
              <a:t>Память, а не чтение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6760" y="2048256"/>
            <a:ext cx="32461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1F2937"/>
                </a:solidFill>
                <a:latin typeface="Trebuchet MS"/>
              </a:rPr>
              <a:t>Без поиска модели называют книги по ассоциации — это не журнал реально открытых страниц.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3108960"/>
            <a:ext cx="3749039" cy="1572768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66760" y="3310128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E2761"/>
                </a:solidFill>
                <a:latin typeface="Georgia"/>
              </a:rPr>
              <a:t>Региональный сдвиг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3785616"/>
            <a:ext cx="32461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1F2937"/>
                </a:solidFill>
                <a:latin typeface="Trebuchet MS"/>
              </a:rPr>
              <a:t>GigaChat — 100 % российские источники; ChatGPT и Claude — большинство западных.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4846320"/>
            <a:ext cx="3749039" cy="1572768"/>
          </a:xfrm>
          <a:prstGeom prst="roundRect">
            <a:avLst>
              <a:gd name="adj" fmla="val 8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5047488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E2761"/>
                </a:solidFill>
                <a:latin typeface="Georgia"/>
              </a:rPr>
              <a:t>Самоотчёт ненадёжен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5522976"/>
            <a:ext cx="32461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1F2937"/>
                </a:solidFill>
                <a:latin typeface="Trebuchet MS"/>
              </a:rPr>
              <a:t>DeepSeek и Grok отрицали поиск, который реально шёл. Список ≠ доказательство.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E2761"/>
                </a:solidFill>
                <a:latin typeface="Georgia"/>
              </a:rPr>
              <a:t>Что стало с нашими гипотезами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61872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6B7280"/>
                </a:solidFill>
                <a:latin typeface="Trebuchet MS"/>
              </a:rPr>
              <a:t>Шесть гипотез сформулировали до сбора данных. Вот что показали 360 ответов.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676656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83080"/>
            <a:ext cx="6858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E2761"/>
                </a:solidFill>
                <a:latin typeface="Georgia"/>
              </a:rPr>
              <a:t>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783080"/>
            <a:ext cx="45262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0" i="0">
                <a:solidFill>
                  <a:srgbClr val="1F2937"/>
                </a:solidFill>
                <a:latin typeface="Trebuchet MS"/>
              </a:rPr>
              <a:t>Западные модели без поиска отвечают прямее и эмоциональнее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2560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6B7280"/>
                </a:solidFill>
                <a:latin typeface="Trebuchet MS"/>
              </a:rPr>
              <a:t>Gemini — да; ChatGPT и Claude сдержанны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0" y="1892808"/>
            <a:ext cx="2103120" cy="457200"/>
          </a:xfrm>
          <a:prstGeom prst="roundRect">
            <a:avLst>
              <a:gd name="adj" fmla="val 35000"/>
            </a:avLst>
          </a:prstGeom>
          <a:solidFill>
            <a:srgbClr val="B5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892808"/>
            <a:ext cx="21031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Trebuchet MS"/>
              </a:rPr>
              <a:t>Частично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532888"/>
            <a:ext cx="10515600" cy="676656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32888"/>
            <a:ext cx="6858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E2761"/>
                </a:solidFill>
                <a:latin typeface="Georgia"/>
              </a:rPr>
              <a:t>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532888"/>
            <a:ext cx="45262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0" i="0">
                <a:solidFill>
                  <a:srgbClr val="1F2937"/>
                </a:solidFill>
                <a:latin typeface="Trebuchet MS"/>
              </a:rPr>
              <a:t>Русские модели ближе к рос. источникам и сильнее винят Запад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532888"/>
            <a:ext cx="2560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6B7280"/>
                </a:solidFill>
                <a:latin typeface="Trebuchet MS"/>
              </a:rPr>
              <a:t>Источники — да; но Запад не стал главным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98280" y="2642616"/>
            <a:ext cx="2103120" cy="457200"/>
          </a:xfrm>
          <a:prstGeom prst="roundRect">
            <a:avLst>
              <a:gd name="adj" fmla="val 35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98280" y="2642616"/>
            <a:ext cx="21031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Trebuchet MS"/>
              </a:rPr>
              <a:t>Подтвердилось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282696"/>
            <a:ext cx="10515600" cy="676656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3282696"/>
            <a:ext cx="6858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E2761"/>
                </a:solidFill>
                <a:latin typeface="Georgia"/>
              </a:rPr>
              <a:t>H3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282696"/>
            <a:ext cx="45262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0" i="0">
                <a:solidFill>
                  <a:srgbClr val="1F2937"/>
                </a:solidFill>
                <a:latin typeface="Trebuchet MS"/>
              </a:rPr>
              <a:t>Поиск делает западные модели «более западными» по содержанию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282696"/>
            <a:ext cx="2560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6B7280"/>
                </a:solidFill>
                <a:latin typeface="Trebuchet MS"/>
              </a:rPr>
              <a:t>Источники сместились, выводы — почти нет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280" y="3392424"/>
            <a:ext cx="2103120" cy="457200"/>
          </a:xfrm>
          <a:prstGeom prst="roundRect">
            <a:avLst>
              <a:gd name="adj" fmla="val 35000"/>
            </a:avLst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98280" y="3392424"/>
            <a:ext cx="21031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Trebuchet MS"/>
              </a:rPr>
              <a:t>Не подтвердилось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032504"/>
            <a:ext cx="10515600" cy="676656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032504"/>
            <a:ext cx="6858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E2761"/>
                </a:solidFill>
                <a:latin typeface="Georgia"/>
              </a:rPr>
              <a:t>H4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4032504"/>
            <a:ext cx="45262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0" i="0">
                <a:solidFill>
                  <a:srgbClr val="1F2937"/>
                </a:solidFill>
                <a:latin typeface="Trebuchet MS"/>
              </a:rPr>
              <a:t>Повторные прогоны дадут сильный разброс ответов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032504"/>
            <a:ext cx="2560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6B7280"/>
                </a:solidFill>
                <a:latin typeface="Trebuchet MS"/>
              </a:rPr>
              <a:t>Три прогона Grok совпали до десятых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98280" y="4142232"/>
            <a:ext cx="2103120" cy="457200"/>
          </a:xfrm>
          <a:prstGeom prst="roundRect">
            <a:avLst>
              <a:gd name="adj" fmla="val 35000"/>
            </a:avLst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98280" y="4142232"/>
            <a:ext cx="21031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Trebuchet MS"/>
              </a:rPr>
              <a:t>Не подтвердилось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782312"/>
            <a:ext cx="10515600" cy="676656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4782312"/>
            <a:ext cx="6858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E2761"/>
                </a:solidFill>
                <a:latin typeface="Georgia"/>
              </a:rPr>
              <a:t>H5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4782312"/>
            <a:ext cx="45262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0" i="0">
                <a:solidFill>
                  <a:srgbClr val="1F2937"/>
                </a:solidFill>
                <a:latin typeface="Trebuchet MS"/>
              </a:rPr>
              <a:t>Культурный bias = устойчивый раскол «Россия vs Запад»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782312"/>
            <a:ext cx="2560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6B7280"/>
                </a:solidFill>
                <a:latin typeface="Trebuchet MS"/>
              </a:rPr>
              <a:t>Раскол в риторике и источниках, не в причинах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98280" y="4892040"/>
            <a:ext cx="2103120" cy="457200"/>
          </a:xfrm>
          <a:prstGeom prst="roundRect">
            <a:avLst>
              <a:gd name="adj" fmla="val 35000"/>
            </a:avLst>
          </a:prstGeom>
          <a:solidFill>
            <a:srgbClr val="B5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98280" y="4892040"/>
            <a:ext cx="21031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Trebuchet MS"/>
              </a:rPr>
              <a:t>Частично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532120"/>
            <a:ext cx="10515600" cy="676656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532120"/>
            <a:ext cx="68580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E2761"/>
                </a:solidFill>
                <a:latin typeface="Georgia"/>
              </a:rPr>
              <a:t>H6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37360" y="5532120"/>
            <a:ext cx="45262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0" i="0">
                <a:solidFill>
                  <a:srgbClr val="1F2937"/>
                </a:solidFill>
                <a:latin typeface="Trebuchet MS"/>
              </a:rPr>
              <a:t>DeepSeek нейтральнее; с поиском сближается с западными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532120"/>
            <a:ext cx="2560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6B7280"/>
                </a:solidFill>
                <a:latin typeface="Trebuchet MS"/>
              </a:rPr>
              <a:t>Сухой и нейтральный; эффект поиска мал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98280" y="5641848"/>
            <a:ext cx="2103120" cy="457200"/>
          </a:xfrm>
          <a:prstGeom prst="roundRect">
            <a:avLst>
              <a:gd name="adj" fmla="val 35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98280" y="5641848"/>
            <a:ext cx="21031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Trebuchet MS"/>
              </a:rPr>
              <a:t>Подтвердилось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6382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9CA3AF"/>
                </a:solidFill>
                <a:latin typeface="Trebuchet MS"/>
              </a:rPr>
              <a:t>Полный разбор по каждой гипотезе — в docs/HYPOTHESES.md.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Georgia"/>
              </a:rPr>
              <a:t>Что это значит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45920"/>
            <a:ext cx="10515600" cy="1554480"/>
          </a:xfrm>
          <a:prstGeom prst="roundRect">
            <a:avLst>
              <a:gd name="adj" fmla="val 8000"/>
            </a:avLst>
          </a:prstGeom>
          <a:solidFill>
            <a:srgbClr val="2B3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74519"/>
            <a:ext cx="978408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Georgia"/>
              </a:rPr>
              <a:t>Культурного раскола «Россия против Запада» в базовой причинности мы не нашли.</a:t>
            </a:r>
          </a:p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Georgia"/>
              </a:rPr>
              <a:t>Главный измеримый разрыв — не между моделями, а между моделями и людьми.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3611880"/>
            <a:ext cx="365760" cy="365760"/>
          </a:xfrm>
          <a:prstGeom prst="ellips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352044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CADCFC"/>
                </a:solidFill>
                <a:latin typeface="Georgia"/>
              </a:rPr>
              <a:t>Консенсус сильнее ожиданий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977640"/>
            <a:ext cx="9692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C8D0E8"/>
                </a:solidFill>
                <a:latin typeface="Trebuchet MS"/>
              </a:rPr>
              <a:t>Все модели ведут к внутреннему системному кризису, а не к внешнему врагу или простой неизбежности.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4572000"/>
            <a:ext cx="365760" cy="365760"/>
          </a:xfrm>
          <a:prstGeom prst="ellips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448056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CADCFC"/>
                </a:solidFill>
                <a:latin typeface="Georgia"/>
              </a:rPr>
              <a:t>Модели «площе» людей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937760"/>
            <a:ext cx="9692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C8D0E8"/>
                </a:solidFill>
                <a:latin typeface="Trebuchet MS"/>
              </a:rPr>
              <a:t>По оси Y нейросети осторожнее: безличные структуры вместо конкретных решений живых историков.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5532120"/>
            <a:ext cx="365760" cy="365760"/>
          </a:xfrm>
          <a:prstGeom prst="ellips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544068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CADCFC"/>
                </a:solidFill>
                <a:latin typeface="Georgia"/>
              </a:rPr>
              <a:t>Bias виден в источниках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5897880"/>
            <a:ext cx="9692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C8D0E8"/>
                </a:solidFill>
                <a:latin typeface="Trebuchet MS"/>
              </a:rPr>
              <a:t>Региональный сдвиг есть в подборе ссылок — но на итоговую интерпретацию влияет слабо.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1E2761"/>
                </a:solidFill>
                <a:latin typeface="Georgia"/>
              </a:rPr>
              <a:t>Честные ограничения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554480"/>
            <a:ext cx="10515600" cy="1024128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700784"/>
            <a:ext cx="40233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1E2761"/>
                </a:solidFill>
                <a:latin typeface="Georgia"/>
              </a:rPr>
              <a:t>Это снимок, а не приговор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49240" y="1700784"/>
            <a:ext cx="57607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 i="0">
                <a:solidFill>
                  <a:srgbClr val="6B7280"/>
                </a:solidFill>
                <a:latin typeface="Trebuchet MS"/>
              </a:rPr>
              <a:t>Баллы описывают поведение моделей в конкретных промптах, датах и режимах — не «истину» о модели.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724912"/>
            <a:ext cx="10515600" cy="1024128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71216"/>
            <a:ext cx="40233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1E2761"/>
                </a:solidFill>
                <a:latin typeface="Georgia"/>
              </a:rPr>
              <a:t>Субъективность кодировки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2871216"/>
            <a:ext cx="57607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 i="0">
                <a:solidFill>
                  <a:srgbClr val="6B7280"/>
                </a:solidFill>
                <a:latin typeface="Trebuchet MS"/>
              </a:rPr>
              <a:t>Перевод текста в баллы делает человек. Мы фиксировали правила, но оценка остаётся интерпретацией.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95344"/>
            <a:ext cx="10515600" cy="1024128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041648"/>
            <a:ext cx="40233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1E2761"/>
                </a:solidFill>
                <a:latin typeface="Georgia"/>
              </a:rPr>
              <a:t>Разный охват серий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4041648"/>
            <a:ext cx="57607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 i="0">
                <a:solidFill>
                  <a:srgbClr val="6B7280"/>
                </a:solidFill>
                <a:latin typeface="Trebuchet MS"/>
              </a:rPr>
              <a:t>У ChatGPT и Gemini — по 4 серии, у Claude — по одной: интерфейсы дают разные режимы.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65776"/>
            <a:ext cx="10515600" cy="1024128"/>
          </a:xfrm>
          <a:prstGeom prst="roundRect">
            <a:avLst>
              <a:gd name="adj" fmla="val 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5212080"/>
            <a:ext cx="40233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1E2761"/>
                </a:solidFill>
                <a:latin typeface="Georgia"/>
              </a:rPr>
              <a:t>Цифры — для иллюстрации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5212080"/>
            <a:ext cx="57607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0" i="0">
                <a:solidFill>
                  <a:srgbClr val="6B7280"/>
                </a:solidFill>
                <a:latin typeface="Trebuchet MS"/>
              </a:rPr>
              <a:t>Проценты и цитаты в ответах моделей не верифицировались против первоисточников.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868680"/>
            <a:ext cx="502920" cy="109728"/>
          </a:xfrm>
          <a:prstGeom prst="rect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FFFFFF"/>
                </a:solidFill>
                <a:latin typeface="Georgia"/>
              </a:rPr>
              <a:t>Если запомнить три вещи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331720"/>
            <a:ext cx="777240" cy="777240"/>
          </a:xfrm>
          <a:prstGeom prst="ellips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19" y="2331720"/>
            <a:ext cx="9326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Georgia"/>
              </a:rPr>
              <a:t>Семь моделей — один ответ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2834640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CADCFC"/>
                </a:solidFill>
                <a:latin typeface="Trebuchet MS"/>
              </a:rPr>
              <a:t>Распад СССР — это внутренний кризис. Регион разработчика рамку почти не меняет.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566160"/>
            <a:ext cx="777240" cy="777240"/>
          </a:xfrm>
          <a:prstGeom prst="ellips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3566160"/>
            <a:ext cx="9326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Georgia"/>
              </a:rPr>
              <a:t>Разрыв — между человеком и машиной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69080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CADCFC"/>
                </a:solidFill>
                <a:latin typeface="Trebuchet MS"/>
              </a:rPr>
              <a:t>Историки объясняют распад решениями людей; модели — безличными структурами.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800600"/>
            <a:ext cx="777240" cy="777240"/>
          </a:xfrm>
          <a:prstGeom prst="ellipse">
            <a:avLst/>
          </a:prstGeom>
          <a:solidFill>
            <a:srgbClr val="D7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800600"/>
            <a:ext cx="9326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Georgia"/>
              </a:rPr>
              <a:t>Bias живёт в источниках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5303520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CADCFC"/>
                </a:solidFill>
                <a:latin typeface="Trebuchet MS"/>
              </a:rPr>
              <a:t>Культурный сдвиг есть в подборе ссылок, но не в итоговой исторической оценке.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722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9CA3AF"/>
                </a:solidFill>
                <a:latin typeface="Trebuchet MS"/>
              </a:rPr>
              <a:t>Спасибо за внимание — вопросы?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