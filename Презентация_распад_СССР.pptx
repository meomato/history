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502920" cy="10972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Как нейросети объясняют</a:t>
            </a:r>
          </a:p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распад СССР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ADCFC"/>
                </a:solidFill>
                <a:latin typeface="Trebuchet MS"/>
              </a:rPr>
              <a:t>Сравнительный анализ интерпретаций семи ИИ-сервисов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ADCFC"/>
                </a:solidFill>
                <a:latin typeface="Trebuchet MS"/>
              </a:rPr>
              <a:t>и проверка культурного смещения в обучении больших языковых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Trebuchet MS"/>
              </a:rPr>
              <a:t>Исследовательский проект · НИУ ВШЭ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8064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CADCFC"/>
                </a:solidFill>
                <a:latin typeface="Trebuchet MS"/>
              </a:rPr>
              <a:t>7 сервисов · 360 ответов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Зачем мы это делали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2937"/>
                </a:solidFill>
                <a:latin typeface="Trebuchet MS"/>
              </a:rPr>
              <a:t>Большие языковые модели обучаются на текстах разных стран и традиций.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2937"/>
                </a:solidFill>
                <a:latin typeface="Trebuchet MS"/>
              </a:rPr>
              <a:t>Значит, в спорных исторических темах они могут нести разный культурный «акцент».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10515600" cy="15087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98755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«Отражают ли ответы нейросетей разницу между российской и западной</a:t>
            </a:r>
          </a:p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трактовкой распада СССР — и виден ли в этом более широкий культурный bias?»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Распад СССР — идеальный тест: тема, по которой российская и западная историография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расходятся сильнее всего. Мы не ищем «правильную» модель — мы картируем, какие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объяснения и нарративы у какой модели всплывают чаще.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Как проверяли — единый протокол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8745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920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Одинаковых промптов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4688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От предпосылок распада до его неизбежности — каждой модели задаём один и тот же список вопросов.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8745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920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Факторов оценки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4688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Запад · Экономика · Горбачёв · Нац. вопрос · Внутренний кризис. Каждый — шкала от 0 до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43434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3891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Координаты компаса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9377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X: внутренние причины — внешнее давление. Y: неизбежность — роль решений и ошибок.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43434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3891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ИИ-сервисов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49377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ChatGPT, Claude, Gemini, Grok, GigaChat, YandexGPT, DeepSeek — Запад, Россия, Восток.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Объём проделанной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7919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ИИ-сервисов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4495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Запад · Россия · Восток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002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78308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7919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серии тестов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4495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разные режимы и прогоны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6002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67919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ответов закодировано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304495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по 5 факторам каждый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8231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эталона-человека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480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учебник и монография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7033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88620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+30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78231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ответов эталонов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51480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те же 15 промптов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37033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388620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ADCFC"/>
                </a:solidFill>
                <a:latin typeface="Georgia"/>
              </a:rPr>
              <a:t>≈6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478231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типов режимов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51480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Trebuchet MS"/>
              </a:rPr>
              <a:t>поиск · рассуждение · версии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Как читать наш «компас»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B7280"/>
                </a:solidFill>
                <a:latin typeface="Trebuchet MS"/>
              </a:rPr>
              <a:t>Каждый ответ переводим в баллы, а среднее по модели — в точку на двух осях.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Ось X — причина распада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Trebuchet MS"/>
              </a:rPr>
              <a:t>−5   внутренние причины главные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Trebuchet MS"/>
              </a:rPr>
              <a:t>+5   внешнее давление главное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Georgia"/>
              </a:rPr>
              <a:t>Ось Y — логика распада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8803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Trebuchet MS"/>
              </a:rPr>
              <a:t>−5   распад был неизбежен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Trebuchet MS"/>
              </a:rPr>
              <a:t>+5   результат решений и ошибок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Trebuchet MS"/>
              </a:rPr>
              <a:t>Пять факторов причинности (0–5):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37760"/>
            <a:ext cx="2029968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20299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Запад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0944" y="4937760"/>
            <a:ext cx="2029968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4937760"/>
            <a:ext cx="20299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Экономика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4937760"/>
            <a:ext cx="2029968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4937760"/>
            <a:ext cx="20299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Горбачёв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4937760"/>
            <a:ext cx="2029968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4937760"/>
            <a:ext cx="20299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Нац. вопрос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4896" y="4937760"/>
            <a:ext cx="2029968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6" y="4937760"/>
            <a:ext cx="20299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Внутр. кризис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Trebuchet MS"/>
              </a:rPr>
              <a:t>Шкала, промпты и журнал прогонов зафиксированы в методичке проекта.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Главный результат</a:t>
            </a:r>
          </a:p>
        </p:txBody>
      </p:sp>
      <p:pic>
        <p:nvPicPr>
          <p:cNvPr id="4" name="Picture 3" descr="Overall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54034"/>
            <a:ext cx="7680960" cy="51728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34440"/>
            <a:ext cx="3611880" cy="5029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54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Все модели —</a:t>
            </a:r>
          </a:p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в одном углу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88036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>Независимо от страны-разработчика, все семь сервисов объясняют распад прежде всего внутренним системным кризисом.</a:t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>На компасе они сбиты в плотное облако слева.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5440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Средний X ≈ −3.0 … −3.5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Какой фактор стабилен, а какой — спорный</a:t>
            </a:r>
          </a:p>
        </p:txBody>
      </p:sp>
      <p:pic>
        <p:nvPicPr>
          <p:cNvPr id="4" name="Picture 3" descr="Fa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13232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28016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Georgia"/>
              </a:rPr>
              <a:t>Стабильно у всех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0116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F2937"/>
                </a:solidFill>
                <a:latin typeface="Trebuchet MS"/>
              </a:rPr>
              <a:t>«Внутренний кризис» — самая тёмная колонка: 4.3–5.0 у всех моделей и обоих эталонов.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404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4069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7263D"/>
                </a:solidFill>
                <a:latin typeface="Georgia"/>
              </a:rPr>
              <a:t>Спорно у всех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57200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F2937"/>
                </a:solidFill>
                <a:latin typeface="Trebuchet MS"/>
              </a:rPr>
              <a:t>«Запад» — самая светлая колонка: 1.0–1.6 у нейросетей. Внешнего врага не делает главным никто.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Ожидаемого раскола не случилось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1F2937"/>
                </a:solidFill>
                <a:latin typeface="Trebuchet MS"/>
              </a:rPr>
              <a:t>Гипотеза была: западные модели «спишут всё на тоталитаризм», российские — «на Запад».</a:t>
            </a:r>
          </a:p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1F2937"/>
                </a:solidFill>
                <a:latin typeface="Trebuchet MS"/>
              </a:rPr>
              <a:t>На деле граница «Россия против Запада» по базовой причинности почти не проявилась.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10515600" cy="84124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ChatGPT (Запад)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743200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7263D"/>
                </a:solidFill>
                <a:latin typeface="Georgia"/>
              </a:rPr>
              <a:t>Запад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743200"/>
            <a:ext cx="5212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минимум внимания к внешнему фактору во всём наборе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75888"/>
            <a:ext cx="10515600" cy="84124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75888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GigaChat (Россия)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675888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7263D"/>
                </a:solidFill>
                <a:latin typeface="Georgia"/>
              </a:rPr>
              <a:t>Запад 1.6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75888"/>
            <a:ext cx="5212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учитывает Запад сильнее ChatGPT — но кризис всё равно главный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08576"/>
            <a:ext cx="10515600" cy="84124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08576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YandexGPT (Россия)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608576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7263D"/>
                </a:solidFill>
                <a:latin typeface="Georgia"/>
              </a:rPr>
              <a:t>Запад 1.4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08576"/>
            <a:ext cx="5212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не стал внешне-обвинительным даже с поиском по рунету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41264"/>
            <a:ext cx="10515600" cy="84124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41264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DeepSeek (Восток)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554126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7263D"/>
                </a:solidFill>
                <a:latin typeface="Georgia"/>
              </a:rPr>
              <a:t>Запад 1.6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541264"/>
            <a:ext cx="5212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самая нейтральная восточная рамка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Рамка устойчива — две проверки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4434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Claude — три размера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Haiku · Sonnet · Opus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(от лёгкой к самой мощной)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Haiku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−3.3 · Y 0.8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8736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Sonnet 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08736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−3.3 · Y 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4573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Opus 4.8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74573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−3.3 · Y 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4406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D7263D"/>
                </a:solidFill>
                <a:latin typeface="Trebuchet MS"/>
              </a:rPr>
              <a:t>Размер меняет глубину, а не позицию.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074920" cy="4434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Grok — три повтора прогона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Один режим, тот же промпт,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280"/>
                </a:solidFill>
                <a:latin typeface="Trebuchet MS"/>
              </a:rPr>
              <a:t>три независимых запуска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Прогон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42900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−3.5 · Y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8736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Прогон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08736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−3.5 · Y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4573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7"/>
                </a:solidFill>
                <a:latin typeface="Trebuchet MS"/>
              </a:rPr>
              <a:t>Прогон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74573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761"/>
                </a:solidFill>
                <a:latin typeface="Trebuchet MS"/>
              </a:rPr>
              <a:t>X −3.5 · Y 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406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D7263D"/>
                </a:solidFill>
                <a:latin typeface="Trebuchet MS"/>
              </a:rPr>
              <a:t>Совпадение до десятых баллов.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Эталоны-люди: с чем сравниваем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6B7280"/>
                </a:solidFill>
                <a:latin typeface="Trebuchet MS"/>
              </a:rPr>
              <a:t>Те же 15 вопросов мы «прогнали» по двум человеческим текстам — российскому и западному.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74920" cy="3931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Мединский / Торкунов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7280"/>
                </a:solidFill>
                <a:latin typeface="Trebuchet MS"/>
              </a:rPr>
              <a:t>Российский школьный учебник,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F2937"/>
                </a:solidFill>
                <a:latin typeface="Trebuchet MS"/>
              </a:rPr>
              <a:t>Запад = 2.4 — максимум во всём наборе.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F2937"/>
                </a:solidFill>
                <a:latin typeface="Trebuchet MS"/>
              </a:rPr>
              <a:t>Но внутр. кризис 4.7, X = −3.1.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D7263D"/>
                </a:solidFill>
                <a:latin typeface="Trebuchet MS"/>
              </a:rPr>
              <a:t>Даже государственный учебник не сводит</a:t>
            </a:r>
          </a:p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D7263D"/>
                </a:solidFill>
                <a:latin typeface="Trebuchet MS"/>
              </a:rPr>
              <a:t>распад к «руке Запада».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074920" cy="39319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Зубок, «Collapse»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7280"/>
                </a:solidFill>
                <a:latin typeface="Trebuchet MS"/>
              </a:rPr>
              <a:t>Западная академическая монография,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118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F2937"/>
                </a:solidFill>
                <a:latin typeface="Trebuchet MS"/>
              </a:rPr>
              <a:t>X = −4.1 (самый «внутренний»),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F2937"/>
                </a:solidFill>
                <a:latin typeface="Trebuchet MS"/>
              </a:rPr>
              <a:t>Y = 3.7 (самый «человеческий»).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8006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D7263D"/>
                </a:solidFill>
                <a:latin typeface="Trebuchet MS"/>
              </a:rPr>
              <a:t>Историк объясняет распад решениями</a:t>
            </a:r>
          </a:p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D7263D"/>
                </a:solidFill>
                <a:latin typeface="Trebuchet MS"/>
              </a:rPr>
              <a:t>людей куда сильнее, чем любая модель.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Статистические выбросы и сюрпризы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7263D"/>
                </a:solidFill>
                <a:latin typeface="Georgia"/>
              </a:rPr>
              <a:t>Y = −0.2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Trebuchet MS"/>
              </a:rPr>
              <a:t>YandexGPT, режим «Исследовать»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729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B7280"/>
                </a:solidFill>
                <a:latin typeface="Trebuchet MS"/>
              </a:rPr>
              <a:t>Единственная серия с отрицательным Y — уклон к «распад был неизбежен».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7263D"/>
                </a:solidFill>
                <a:latin typeface="Georgia"/>
              </a:rPr>
              <a:t>Отказ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Trebuchet MS"/>
              </a:rPr>
              <a:t>DeepSeek на вопросе про Китай (P12)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729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B7280"/>
                </a:solidFill>
                <a:latin typeface="Trebuchet MS"/>
              </a:rPr>
              <a:t>Восточная модель уклонилась от сравнения с путём Дэн Сяопина.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1605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7263D"/>
                </a:solidFill>
                <a:latin typeface="Georgia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292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Trebuchet MS"/>
              </a:rPr>
              <a:t>Источники GigaChat — только рунет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B7280"/>
                </a:solidFill>
                <a:latin typeface="Trebuchet MS"/>
              </a:rPr>
              <a:t>Региональный сдвиг выдачи: РУВИКИ и БРЭ. Но рамка осталась комплексной.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3192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7263D"/>
                </a:solidFill>
                <a:latin typeface="Georgia"/>
              </a:rPr>
              <a:t>0.3 — 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Trebuchet MS"/>
              </a:rPr>
              <a:t>Самый сухой vs самый «яркий»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0468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B7280"/>
                </a:solidFill>
                <a:latin typeface="Trebuchet MS"/>
              </a:rPr>
              <a:t>ChatGPT — сдержаннее всех, Gemini — самый публицистичный по тону.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761"/>
                </a:solidFill>
                <a:latin typeface="Georgia"/>
              </a:rPr>
              <a:t>Откуда модели «берут» источники</a:t>
            </a:r>
          </a:p>
        </p:txBody>
      </p:sp>
      <p:pic>
        <p:nvPicPr>
          <p:cNvPr id="4" name="Picture 3" descr="Source_region_sh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" y="1188720"/>
            <a:ext cx="728091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371600"/>
            <a:ext cx="3749039" cy="15727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572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Память, а не чтение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048256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F2937"/>
                </a:solidFill>
                <a:latin typeface="Trebuchet MS"/>
              </a:rPr>
              <a:t>Без поиска модели называют книги по ассоциации — это не журнал реально открытых страниц.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108960"/>
            <a:ext cx="3749039" cy="15727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33101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Региональный сдвиг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785616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F2937"/>
                </a:solidFill>
                <a:latin typeface="Trebuchet MS"/>
              </a:rPr>
              <a:t>GigaChat — 100 % российские источники; ChatGPT и Claude — большинство западных.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846320"/>
            <a:ext cx="3749039" cy="15727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50474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Самоотчёт ненадёжен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5522976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F2937"/>
                </a:solidFill>
                <a:latin typeface="Trebuchet MS"/>
              </a:rPr>
              <a:t>DeepSeek и Grok отрицали поиск, который реально шёл. Список ≠ доказательство.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Что это значит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1554480"/>
          </a:xfrm>
          <a:prstGeom prst="roundRect">
            <a:avLst>
              <a:gd name="adj" fmla="val 8000"/>
            </a:avLst>
          </a:prstGeom>
          <a:solidFill>
            <a:srgbClr val="2B3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74519"/>
            <a:ext cx="9784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Культурного раскола «Россия против Запада» в базовой причинности мы не нашли.</a:t>
            </a:r>
          </a:p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Главный измеримый разрыв — не между моделями, а между моделями и людьми.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611880"/>
            <a:ext cx="365760" cy="36576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520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ADCFC"/>
                </a:solidFill>
                <a:latin typeface="Georgia"/>
              </a:rPr>
              <a:t>Консенсус сильнее ожиданий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7764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C8D0E8"/>
                </a:solidFill>
                <a:latin typeface="Trebuchet MS"/>
              </a:rPr>
              <a:t>Все модели ведут к внутреннему системному кризису, а не к внешнему врагу или простой неизбежности.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572000"/>
            <a:ext cx="365760" cy="36576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4805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ADCFC"/>
                </a:solidFill>
                <a:latin typeface="Georgia"/>
              </a:rPr>
              <a:t>Модели «площе» людей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93776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C8D0E8"/>
                </a:solidFill>
                <a:latin typeface="Trebuchet MS"/>
              </a:rPr>
              <a:t>По оси Y нейросети осторожнее: безличные структуры вместо конкретных решений живых историков.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532120"/>
            <a:ext cx="365760" cy="36576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4406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ADCFC"/>
                </a:solidFill>
                <a:latin typeface="Georgia"/>
              </a:rPr>
              <a:t>Bias виден в источниках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89788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C8D0E8"/>
                </a:solidFill>
                <a:latin typeface="Trebuchet MS"/>
              </a:rPr>
              <a:t>Региональный сдвиг есть в подборе ссылок — но на итоговую интерпретацию влияет слабо.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Честные ограничения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102412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00784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2761"/>
                </a:solidFill>
                <a:latin typeface="Georgia"/>
              </a:rPr>
              <a:t>Это снимок, а не приговор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700784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Баллы описывают поведение моделей в конкретных промптах, датах и режимах — не «истину» о модели.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24912"/>
            <a:ext cx="10515600" cy="102412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71216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2761"/>
                </a:solidFill>
                <a:latin typeface="Georgia"/>
              </a:rPr>
              <a:t>Субъективность кодировки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871216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Перевод текста в баллы делает человек. Мы фиксировали правила, но оценка остаётся интерпретацией.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95344"/>
            <a:ext cx="10515600" cy="102412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41648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2761"/>
                </a:solidFill>
                <a:latin typeface="Georgia"/>
              </a:rPr>
              <a:t>Разный охват серий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041648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У ChatGPT и Gemini — по 4 серии, у Claude — по одной: интерфейсы дают разные режимы.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65776"/>
            <a:ext cx="10515600" cy="102412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21208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2761"/>
                </a:solidFill>
                <a:latin typeface="Georgia"/>
              </a:rPr>
              <a:t>Цифры — для иллюстрации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5212080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7280"/>
                </a:solidFill>
                <a:latin typeface="Trebuchet MS"/>
              </a:rPr>
              <a:t>Проценты и цитаты в ответах моделей не верифицировались против первоисточников.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502920" cy="10972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Если запомнить три вещи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331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Georgia"/>
              </a:rPr>
              <a:t>Семь моделей — один ответ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83464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>Распад СССР — это внутренний кризис. Регион разработчика рамку почти не меняет.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777240" cy="77724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56616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Georgia"/>
              </a:rPr>
              <a:t>Разрыв проходит человек — машина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6908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>Историки объясняют распад решениями людей; модели — безличными структурами.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00600"/>
            <a:ext cx="777240" cy="77724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0060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Georgia"/>
              </a:rPr>
              <a:t>Bias живёт в источниках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30352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CADCFC"/>
                </a:solidFill>
                <a:latin typeface="Trebuchet MS"/>
              </a:rPr>
              <a:t>Культурный сдвиг есть в подборе ссылок, но не в итоговой исторической оценке.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9CA3AF"/>
                </a:solidFill>
                <a:latin typeface="Trebuchet MS"/>
              </a:rPr>
              <a:t>Спасибо за внимание —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